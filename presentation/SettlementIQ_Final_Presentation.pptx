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0F172A"/>
                </a:solidFill>
                <a:latin typeface="Carlito"/>
              </a:rPr>
              <a:t>Generated Record Counts by Source File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 Count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Sheet1!$A$2:$A$6</c:f>
              <c:strCache>
                <c:ptCount val="5"/>
                <c:pt idx="0">
                  <c:v>Transactions</c:v>
                </c:pt>
                <c:pt idx="1">
                  <c:v>Settlements</c:v>
                </c:pt>
                <c:pt idx="2">
                  <c:v>Bank Entries</c:v>
                </c:pt>
                <c:pt idx="3">
                  <c:v>Ground Truth</c:v>
                </c:pt>
                <c:pt idx="4">
                  <c:v>Refunds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9955</c:v>
                </c:pt>
                <c:pt idx="1">
                  <c:v>10090</c:v>
                </c:pt>
                <c:pt idx="2">
                  <c:v>10070</c:v>
                </c:pt>
                <c:pt idx="3">
                  <c:v>10000</c:v>
                </c:pt>
                <c:pt idx="4">
                  <c:v>250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0F172A"/>
                </a:solidFill>
                <a:latin typeface="Carlito"/>
              </a:rPr>
              <a:t>Disposed Row Counts by Validation Category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Sheet1!$A$2:$A$8</c:f>
              <c:strCache>
                <c:ptCount val="7"/>
                <c:pt idx="0">
                  <c:v>Stl Replay</c:v>
                </c:pt>
                <c:pt idx="1">
                  <c:v>Txn Replay</c:v>
                </c:pt>
                <c:pt idx="2">
                  <c:v>Invalid ID</c:v>
                </c:pt>
                <c:pt idx="3">
                  <c:v>Missing Ref</c:v>
                </c:pt>
                <c:pt idx="4">
                  <c:v>Neg Amount</c:v>
                </c:pt>
                <c:pt idx="5">
                  <c:v>Foreign FX</c:v>
                </c:pt>
                <c:pt idx="6">
                  <c:v>Missing Date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25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8</c:v>
                </c:pt>
                <c:pt idx="6">
                  <c:v>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0F172A"/>
                </a:solidFill>
                <a:latin typeface="Carlito"/>
              </a:rPr>
              <a:t>Evaluated Cases by Rule Family (Non-R1 Rules)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Sheet1!$A$2:$A$10</c:f>
              <c:strCache>
                <c:ptCount val="9"/>
                <c:pt idx="0">
                  <c:v>R2 Tolerance</c:v>
                </c:pt>
                <c:pt idx="1">
                  <c:v>R3 Fee-Adj</c:v>
                </c:pt>
                <c:pt idx="2">
                  <c:v>R7 Missing</c:v>
                </c:pt>
                <c:pt idx="3">
                  <c:v>R4 Timing</c:v>
                </c:pt>
                <c:pt idx="4">
                  <c:v>R5 Partial</c:v>
                </c:pt>
                <c:pt idx="5">
                  <c:v>R6 Duplicate</c:v>
                </c:pt>
                <c:pt idx="6">
                  <c:v>R9 Refund</c:v>
                </c:pt>
                <c:pt idx="7">
                  <c:v>DQ Quarantine</c:v>
                </c:pt>
                <c:pt idx="8">
                  <c:v>R8 Ambiguous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360</c:v>
                </c:pt>
                <c:pt idx="1">
                  <c:v>250</c:v>
                </c:pt>
                <c:pt idx="2">
                  <c:v>240</c:v>
                </c:pt>
                <c:pt idx="3">
                  <c:v>220</c:v>
                </c:pt>
                <c:pt idx="4">
                  <c:v>210</c:v>
                </c:pt>
                <c:pt idx="5">
                  <c:v>130</c:v>
                </c:pt>
                <c:pt idx="6">
                  <c:v>70</c:v>
                </c:pt>
                <c:pt idx="7">
                  <c:v>45</c:v>
                </c:pt>
                <c:pt idx="8">
                  <c:v>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0F172A"/>
                </a:solidFill>
                <a:latin typeface="Carlito"/>
              </a:rPr>
              <a:t>Unresolved Exposure (₹ Lakhs) by Exception Aging Band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Exposure (₹ Lakhs)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Sheet1!$A$2:$A$5</c:f>
              <c:strCache>
                <c:ptCount val="4"/>
                <c:pt idx="0">
                  <c:v>0-2 Days</c:v>
                </c:pt>
                <c:pt idx="1">
                  <c:v>3-7 Days</c:v>
                </c:pt>
                <c:pt idx="2">
                  <c:v>8-30 Days</c:v>
                </c:pt>
                <c:pt idx="3">
                  <c:v>Over 30 Days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2.75</c:v>
                </c:pt>
                <c:pt idx="2">
                  <c:v>17.52</c:v>
                </c:pt>
                <c:pt idx="3">
                  <c:v>17.26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0F172A"/>
                </a:solidFill>
                <a:latin typeface="Carlito"/>
              </a:rPr>
              <a:t>Multi-Stage Monetary Control Totals (₹ Crores)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₹ Crores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Sheet1!$A$2:$A$7</c:f>
              <c:strCache>
                <c:ptCount val="6"/>
                <c:pt idx="0">
                  <c:v>Raw INR</c:v>
                </c:pt>
                <c:pt idx="1">
                  <c:v>Validated</c:v>
                </c:pt>
                <c:pt idx="2">
                  <c:v>Expected Net</c:v>
                </c:pt>
                <c:pt idx="3">
                  <c:v>Stl Net</c:v>
                </c:pt>
                <c:pt idx="4">
                  <c:v>Bank Cr</c:v>
                </c:pt>
                <c:pt idx="5">
                  <c:v>Observed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9.26</c:v>
                </c:pt>
                <c:pt idx="1">
                  <c:v>9.23</c:v>
                </c:pt>
                <c:pt idx="2">
                  <c:v>9.05</c:v>
                </c:pt>
                <c:pt idx="3">
                  <c:v>8.99</c:v>
                </c:pt>
                <c:pt idx="4">
                  <c:v>9.01</c:v>
                </c:pt>
                <c:pt idx="5">
                  <c:v>8.98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0F172A"/>
                </a:solidFill>
                <a:latin typeface="Carlito"/>
              </a:rPr>
              <a:t>Ground-Truth Verification &amp; Data Quality Metrics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(%)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Exc Recall</c:v>
                </c:pt>
                <c:pt idx="2">
                  <c:v>Precision</c:v>
                </c:pt>
                <c:pt idx="3">
                  <c:v>DQ Pass</c:v>
                </c:pt>
                <c:pt idx="4">
                  <c:v>Target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99.3</c:v>
                </c:pt>
                <c:pt idx="4">
                  <c:v>95.0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0F172A"/>
                </a:solidFill>
                <a:latin typeface="Carlito"/>
              </a:rPr>
              <a:t>Top Exception Categories by Unresolved Exposure (₹ Lakhs)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₹ Lakhs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Sheet1!$A$2:$A$8</c:f>
              <c:strCache>
                <c:ptCount val="7"/>
                <c:pt idx="0">
                  <c:v>Missing Stl</c:v>
                </c:pt>
                <c:pt idx="1">
                  <c:v>Missing Ledger</c:v>
                </c:pt>
                <c:pt idx="2">
                  <c:v>Duplicate</c:v>
                </c:pt>
                <c:pt idx="3">
                  <c:v>Ambiguous</c:v>
                </c:pt>
                <c:pt idx="4">
                  <c:v>Missing Bank</c:v>
                </c:pt>
                <c:pt idx="5">
                  <c:v>Quarantined</c:v>
                </c:pt>
                <c:pt idx="6">
                  <c:v>Partial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10.5</c:v>
                </c:pt>
                <c:pt idx="1">
                  <c:v>6.22</c:v>
                </c:pt>
                <c:pt idx="2">
                  <c:v>5.57</c:v>
                </c:pt>
                <c:pt idx="3">
                  <c:v>3.19</c:v>
                </c:pt>
                <c:pt idx="4">
                  <c:v>2.73</c:v>
                </c:pt>
                <c:pt idx="5">
                  <c:v>2.56</c:v>
                </c:pt>
                <c:pt idx="6">
                  <c:v>2.19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93C5FD"/>
                </a:solidFill>
                <a:latin typeface="Carlito"/>
              </a:rPr>
              <a:t>PORTFOLIO PROJECT WALKTHROUGH  |  RUN_20261025_001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8FAFC"/>
                </a:solidFill>
                <a:latin typeface="Carlito"/>
              </a:rPr>
              <a:t>SettlementIQ: Payment Settlement &amp; Leakage Analytics</a:t>
            </a:r>
          </a:p>
          <a:p>
            <a:r>
              <a:rPr sz="2000">
                <a:solidFill>
                  <a:srgbClr val="CBD5E1"/>
                </a:solidFill>
                <a:latin typeface="Carlito"/>
              </a:rPr>
              <a:t>End-to-End Reconciliation Across Excel, VBA, Python, PostgreSQL &amp;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Carlito"/>
              </a:rPr>
              <a:t>100% Synthetic Ecosystem (Seed=42)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01 / EXECUTIVE SUMMARY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SettlementIQ Reconciles 93.07% of Ledger Volume and Isolates ₹37.53L Exposure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0500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2647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10,000-Case Scale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Ledger Volume: </a:t>
            </a:r>
            <a:r>
              <a:rPr sz="1500">
                <a:solidFill>
                  <a:srgbClr val="475569"/>
                </a:solidFill>
                <a:latin typeface="Carlito"/>
              </a:rPr>
              <a:t>9,885 validated INR transactions across 25 merchants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Source Feeds: </a:t>
            </a:r>
            <a:r>
              <a:rPr sz="1500">
                <a:solidFill>
                  <a:srgbClr val="475569"/>
                </a:solidFill>
                <a:latin typeface="Carlito"/>
              </a:rPr>
              <a:t>10,090 settlements, 10,070 bank entries, 250 refunds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0500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2647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Financial Integrity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Zero Leakage Diff: </a:t>
            </a:r>
            <a:r>
              <a:rPr sz="1500">
                <a:solidFill>
                  <a:srgbClr val="475569"/>
                </a:solidFill>
                <a:latin typeface="Carlito"/>
              </a:rPr>
              <a:t>0.00 INR unexplained variance across all stages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Exposure Clarity: </a:t>
            </a:r>
            <a:r>
              <a:rPr sz="1500">
                <a:solidFill>
                  <a:srgbClr val="475569"/>
                </a:solidFill>
                <a:latin typeface="Carlito"/>
              </a:rPr>
              <a:t>₹37.53L open exposure separated from ₹1.26L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0500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2647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Verified Accuracy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100% Recall: </a:t>
            </a:r>
            <a:r>
              <a:rPr sz="1500">
                <a:solidFill>
                  <a:srgbClr val="475569"/>
                </a:solidFill>
                <a:latin typeface="Carlito"/>
              </a:rPr>
              <a:t>Detects 800/800 planted exceptions across 28 scenarios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Zero False Alarms: </a:t>
            </a:r>
            <a:r>
              <a:rPr sz="1500">
                <a:solidFill>
                  <a:srgbClr val="475569"/>
                </a:solidFill>
                <a:latin typeface="Carlito"/>
              </a:rPr>
              <a:t>0.00% false-positive rate across 9,200 clean matches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2/16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02 / BUSINESS PROBLEM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Payment Flows Mask Fee &amp; Timing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9377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Why Naive ID Matching Fails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Fee Deductions: </a:t>
            </a:r>
            <a:r>
              <a:rPr sz="1500">
                <a:solidFill>
                  <a:srgbClr val="475569"/>
                </a:solidFill>
                <a:latin typeface="Carlito"/>
              </a:rPr>
              <a:t>MDR, fixed gateway fees, and 18% GST alter net payouts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Split Settlements: </a:t>
            </a:r>
            <a:r>
              <a:rPr sz="1500">
                <a:solidFill>
                  <a:srgbClr val="475569"/>
                </a:solidFill>
                <a:latin typeface="Carlito"/>
              </a:rPr>
              <a:t>Installment captures settle legitimately across multiple lines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Operational Defects: </a:t>
            </a:r>
            <a:r>
              <a:rPr sz="1500">
                <a:solidFill>
                  <a:srgbClr val="475569"/>
                </a:solidFill>
                <a:latin typeface="Carlito"/>
              </a:rPr>
              <a:t>Missing payouts, duplicate credits, and failed refunds hide in batches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3/16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03 / OBJECTIVES &amp; GOVERNANCE SCOPE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Strict Conventional Analytics Scope Without Black-Box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Core Objectives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Multi-Layer Recon: </a:t>
            </a:r>
            <a:r>
              <a:rPr sz="1500">
                <a:solidFill>
                  <a:srgbClr val="475569"/>
                </a:solidFill>
                <a:latin typeface="Carlito"/>
              </a:rPr>
              <a:t>Reconcile switch ledger, gateway, bank, and refund feeds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Prioritized Queue: </a:t>
            </a:r>
            <a:r>
              <a:rPr sz="1500">
                <a:solidFill>
                  <a:srgbClr val="475569"/>
                </a:solidFill>
                <a:latin typeface="Carlito"/>
              </a:rPr>
              <a:t>Rank exceptions by exposure, age band, and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Approved Stack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SQL &amp; Python: </a:t>
            </a:r>
            <a:r>
              <a:rPr sz="1500">
                <a:solidFill>
                  <a:srgbClr val="475569"/>
                </a:solidFill>
                <a:latin typeface="Carlito"/>
              </a:rPr>
              <a:t>PostgreSQL authoritative SQL rules with Python Decimal math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Excel &amp; Power BI: </a:t>
            </a:r>
            <a:r>
              <a:rPr sz="1500">
                <a:solidFill>
                  <a:srgbClr val="475569"/>
                </a:solidFill>
                <a:latin typeface="Carlito"/>
              </a:rPr>
              <a:t>15-sheet workbook, 8 VBA modules, and Power BI DAX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Strict Exclusions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100% Synthetic: </a:t>
            </a:r>
            <a:r>
              <a:rPr sz="1500">
                <a:solidFill>
                  <a:srgbClr val="475569"/>
                </a:solidFill>
                <a:latin typeface="Carlito"/>
              </a:rPr>
              <a:t>Zero real customer PII or live banking credentials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No AI / ML: </a:t>
            </a:r>
            <a:r>
              <a:rPr sz="1500">
                <a:solidFill>
                  <a:srgbClr val="475569"/>
                </a:solidFill>
                <a:latin typeface="Carlito"/>
              </a:rPr>
              <a:t>Deterministic accounting rules only; zero predictive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4/16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04 / SYSTEM ARCHITECTURE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Four-Layer Architecture Isolates Ground Truth from SQL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0500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2647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1. Ingest &amp; Quarantine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Schema Gate: </a:t>
            </a:r>
            <a:r>
              <a:rPr sz="1500">
                <a:solidFill>
                  <a:srgbClr val="475569"/>
                </a:solidFill>
                <a:latin typeface="Carlito"/>
              </a:rPr>
              <a:t>Validates headers, types, dates, and INR currency policy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Defect Isolation: </a:t>
            </a:r>
            <a:r>
              <a:rPr sz="1500">
                <a:solidFill>
                  <a:srgbClr val="475569"/>
                </a:solidFill>
                <a:latin typeface="Carlito"/>
              </a:rPr>
              <a:t>Quarantines 45 invalid rows and suppresses 50 replays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0500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2647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2. SQL Recon Engine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Authoritative Owner: </a:t>
            </a:r>
            <a:r>
              <a:rPr sz="1500">
                <a:solidFill>
                  <a:srgbClr val="475569"/>
                </a:solidFill>
                <a:latin typeface="Carlito"/>
              </a:rPr>
              <a:t>PostgreSQL / SQLite executes rules R1–R9 in precedence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Audit Evidence: </a:t>
            </a:r>
            <a:r>
              <a:rPr sz="1500">
                <a:solidFill>
                  <a:srgbClr val="475569"/>
                </a:solidFill>
                <a:latin typeface="Carlito"/>
              </a:rPr>
              <a:t>Records match IDs, rule versions, and exception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0500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2647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3. BI &amp; QA Verification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Ground-Truth Audit: </a:t>
            </a:r>
            <a:r>
              <a:rPr sz="1500">
                <a:solidFill>
                  <a:srgbClr val="475569"/>
                </a:solidFill>
                <a:latin typeface="Carlito"/>
              </a:rPr>
              <a:t>Compares SQL outputs against 10,000 isolated test labels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Executive Delivery: </a:t>
            </a:r>
            <a:r>
              <a:rPr sz="1500">
                <a:solidFill>
                  <a:srgbClr val="475569"/>
                </a:solidFill>
                <a:latin typeface="Carlito"/>
              </a:rPr>
              <a:t>Feeds validated views to Excel sheets and Power BI DAX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5/16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05 / SYNTHETIC DATA ECOSYSTEM (SEED=42)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Deterministic Generator Produces 30,390 Interconnected Source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Reproducible 28-Scenario Design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Customer &amp; Merchant Base: </a:t>
            </a:r>
            <a:r>
              <a:rPr sz="1500">
                <a:solidFill>
                  <a:srgbClr val="475569"/>
                </a:solidFill>
                <a:latin typeface="Carlito"/>
              </a:rPr>
              <a:t>3,200 distinct customers across 25 onboarded merchants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Planted Defect Coverage: </a:t>
            </a:r>
            <a:r>
              <a:rPr sz="1500">
                <a:solidFill>
                  <a:srgbClr val="475569"/>
                </a:solidFill>
                <a:latin typeface="Carlito"/>
              </a:rPr>
              <a:t>9,200 clean baseline matches and 800 planted exceptions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Idempotent Replay Test: </a:t>
            </a:r>
            <a:r>
              <a:rPr sz="1500">
                <a:solidFill>
                  <a:srgbClr val="475569"/>
                </a:solidFill>
                <a:latin typeface="Carlito"/>
              </a:rPr>
              <a:t>Includes 25 duplicate transaction and 25 settlement replays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0" y="205740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6/16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06 / DATA QUALITY &amp; MONETARY CONSERVATION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Staging Validation Achieves 99.30% Pass Rate With Zero Unexplained 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Quarantine &amp; Replay Suppression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45 Quarantined Rows: </a:t>
            </a:r>
            <a:r>
              <a:rPr sz="1500">
                <a:solidFill>
                  <a:srgbClr val="475569"/>
                </a:solidFill>
                <a:latin typeface="Carlito"/>
              </a:rPr>
              <a:t>10 invalid IDs, 10 missing refs, 10 neg amounts, 7 dates, 8 FX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50 Suppressed Replays: </a:t>
            </a:r>
            <a:r>
              <a:rPr sz="1500">
                <a:solidFill>
                  <a:srgbClr val="475569"/>
                </a:solidFill>
                <a:latin typeface="Carlito"/>
              </a:rPr>
              <a:t>25 repeated transactions and 25 repeated settlements blocked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Exact Conservation: </a:t>
            </a:r>
            <a:r>
              <a:rPr sz="1500">
                <a:solidFill>
                  <a:srgbClr val="475569"/>
                </a:solidFill>
                <a:latin typeface="Carlito"/>
              </a:rPr>
              <a:t>Raw INR (₹9.26Cr) equals Validated + Quarantined + Suppressed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0" y="205740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7/16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07 / RECONCILIATION RULE PRECEDENCE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Nine Deterministic Rule Families Classify All 10,000 Cases Without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Versioned Precedence (RULE_SET_2026_10_v1)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Clean Matches (9,200): </a:t>
            </a:r>
            <a:r>
              <a:rPr sz="1500">
                <a:solidFill>
                  <a:srgbClr val="475569"/>
                </a:solidFill>
                <a:latin typeface="Carlito"/>
              </a:rPr>
              <a:t>8,440 Exact (R1), 360 Tol (R2), 250 Fee-Adj (R3), 150 Partial (R5)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Counterpart &amp; Timing: </a:t>
            </a:r>
            <a:r>
              <a:rPr sz="1500">
                <a:solidFill>
                  <a:srgbClr val="475569"/>
                </a:solidFill>
                <a:latin typeface="Carlito"/>
              </a:rPr>
              <a:t>240 Missing Counterparts (R7) and 220 Timing Exceptions (R4)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Duplicates &amp; Refunds: </a:t>
            </a:r>
            <a:r>
              <a:rPr sz="1500">
                <a:solidFill>
                  <a:srgbClr val="475569"/>
                </a:solidFill>
                <a:latin typeface="Carlito"/>
              </a:rPr>
              <a:t>130 Duplicates (R6), 70 Refund Issues (R9), 35 Ambiguous (R8)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0" y="205740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8/16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_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6492240" y="45720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08 / EXCEL &amp; VBA AUTOMATION</a:t>
            </a:r>
          </a:p>
          <a:p>
            <a:r>
              <a:rPr sz="3200" b="1">
                <a:solidFill>
                  <a:srgbClr val="0F172A"/>
                </a:solidFill>
                <a:latin typeface="Carlito"/>
              </a:rPr>
              <a:t>15-Tab Workbook &amp; 8 VBA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2011680"/>
            <a:ext cx="49377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Spreadsheet Controls &amp; Verification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15 Validated Tabs: </a:t>
            </a:r>
            <a:r>
              <a:rPr sz="1500">
                <a:solidFill>
                  <a:srgbClr val="475569"/>
                </a:solidFill>
                <a:latin typeface="Carlito"/>
              </a:rPr>
              <a:t>Control_Panel, Executive_Dashboard, Reconciliation, Exception_Register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Zero Formula Errors: </a:t>
            </a:r>
            <a:r>
              <a:rPr sz="1500">
                <a:solidFill>
                  <a:srgbClr val="475569"/>
                </a:solidFill>
                <a:latin typeface="Carlito"/>
              </a:rPr>
              <a:t>Recalculated via headless LibreOffice Calc and validated cleanly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8 VBA + 4 M Scripts: </a:t>
            </a:r>
            <a:r>
              <a:rPr sz="1500">
                <a:solidFill>
                  <a:srgbClr val="475569"/>
                </a:solidFill>
                <a:latin typeface="Carlito"/>
              </a:rPr>
              <a:t>Modular .bas macros and Power Query M scripts delivered in excel/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355080"/>
            <a:ext cx="49377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>
                <a:solidFill>
                  <a:srgbClr val="475569"/>
                </a:solidFill>
                <a:latin typeface="Carlito"/>
              </a:rPr>
              <a:t>Slide 9/16  |  excel/SettlementIQ_Reconciliation_Dashboard.xlsx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09 / PYTHON &amp; POSTGRESQL ENGINEERING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Modular Python Package Orchestrates 12 Versioned SQL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Python Package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15 Clean Modules: </a:t>
            </a:r>
            <a:r>
              <a:rPr sz="1500">
                <a:solidFill>
                  <a:srgbClr val="475569"/>
                </a:solidFill>
                <a:latin typeface="Carlito"/>
              </a:rPr>
              <a:t>Separates ingestion, validation, DQ, SQL runner, and KPIs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Exact Decimal Math: </a:t>
            </a:r>
            <a:r>
              <a:rPr sz="1500">
                <a:solidFill>
                  <a:srgbClr val="475569"/>
                </a:solidFill>
                <a:latin typeface="Carlito"/>
              </a:rPr>
              <a:t>Uses decimal.Decimal with ROUND_HALF_UP across all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PostgreSQL Layer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12 SQL Scripts: </a:t>
            </a:r>
            <a:r>
              <a:rPr sz="1500">
                <a:solidFill>
                  <a:srgbClr val="475569"/>
                </a:solidFill>
                <a:latin typeface="Carlito"/>
              </a:rPr>
              <a:t>Covers DDL schema, constraints, staging views, and EXPLAIN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Strict Constraints: </a:t>
            </a:r>
            <a:r>
              <a:rPr sz="1500">
                <a:solidFill>
                  <a:srgbClr val="475569"/>
                </a:solidFill>
                <a:latin typeface="Carlito"/>
              </a:rPr>
              <a:t>Enforces PK, FK, UNIQUE, and positive-amount CHECK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Single-Command CLI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11-Second Execution: </a:t>
            </a:r>
            <a:r>
              <a:rPr sz="1500">
                <a:solidFill>
                  <a:srgbClr val="475569"/>
                </a:solidFill>
                <a:latin typeface="Carlito"/>
              </a:rPr>
              <a:t>Runs end-to-end via python3 -m settlementiq.cli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Portable SQLite Engine: </a:t>
            </a:r>
            <a:r>
              <a:rPr sz="1500">
                <a:solidFill>
                  <a:srgbClr val="475569"/>
                </a:solidFill>
                <a:latin typeface="Carlito"/>
              </a:rPr>
              <a:t>Executes SQL rules locally when PostgreSQL daemon is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10/16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10 / POWER BI ARCHITECTURE &amp; AGEING ANALYSIS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Star Schema Model and 34 DAX Measures Power Executive BI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Two-Page BI Report Design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Page 1 Overview: </a:t>
            </a:r>
            <a:r>
              <a:rPr sz="1500">
                <a:solidFill>
                  <a:srgbClr val="475569"/>
                </a:solidFill>
                <a:latin typeface="Carlito"/>
              </a:rPr>
              <a:t>Tracks 93.07% recon rate, ₹37.53L exposure, and merchant share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Page 2 Investigation: </a:t>
            </a:r>
            <a:r>
              <a:rPr sz="1500">
                <a:solidFill>
                  <a:srgbClr val="475569"/>
                </a:solidFill>
                <a:latin typeface="Carlito"/>
              </a:rPr>
              <a:t>Drill-through exception register by priority, rule, and age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Honest PBIX Disclosure: </a:t>
            </a:r>
            <a:r>
              <a:rPr sz="1500">
                <a:solidFill>
                  <a:srgbClr val="475569"/>
                </a:solidFill>
                <a:latin typeface="Carlito"/>
              </a:rPr>
              <a:t>Delivers verified DAX, Power Query M, and PNG views cleanly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0" y="205740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11/16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11 / FINANCIAL CONTROLS &amp; 42 KPIS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Stage-by-Stage Control Totals Reconcile ₹9.26 Crore With Zero Unexplained 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Accounting &amp; Variance Controls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Signed vs Absolute: </a:t>
            </a:r>
            <a:r>
              <a:rPr sz="1500">
                <a:solidFill>
                  <a:srgbClr val="475569"/>
                </a:solidFill>
                <a:latin typeface="Carlito"/>
              </a:rPr>
              <a:t>Net Signed Discrepancy is -₹7.34L; Absolute Variance is ₹43.23L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Unresolved Exposure: </a:t>
            </a:r>
            <a:r>
              <a:rPr sz="1500">
                <a:solidFill>
                  <a:srgbClr val="475569"/>
                </a:solidFill>
                <a:latin typeface="Carlito"/>
              </a:rPr>
              <a:t>₹37.53L across 705 open/reopened items (95 resolved = ₹0.00)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Confirmed Write-Off: </a:t>
            </a:r>
            <a:r>
              <a:rPr sz="1500">
                <a:solidFill>
                  <a:srgbClr val="475569"/>
                </a:solidFill>
                <a:latin typeface="Carlito"/>
              </a:rPr>
              <a:t>₹1.26L restricted to 15 independently evidenced loss cases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0" y="205740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12/16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12 / QUALITY ASSURANCE &amp; GROUND-TRUTH AUDIT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Automated Test Suite Passes 27/27 Assertions With 100% Ground-Truth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Exceeds &gt;=95% Classification Target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10,000 / 10,000 Correct: </a:t>
            </a:r>
            <a:r>
              <a:rPr sz="1500">
                <a:solidFill>
                  <a:srgbClr val="475569"/>
                </a:solidFill>
                <a:latin typeface="Carlito"/>
              </a:rPr>
              <a:t>100.00% exact classification agreement across all 28 scenarios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Zero False Positives: </a:t>
            </a:r>
            <a:r>
              <a:rPr sz="1500">
                <a:solidFill>
                  <a:srgbClr val="475569"/>
                </a:solidFill>
                <a:latin typeface="Carlito"/>
              </a:rPr>
              <a:t>0 clean records misclassified across 9,200 baseline cases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27 Automated Tests: </a:t>
            </a:r>
            <a:r>
              <a:rPr sz="1500">
                <a:solidFill>
                  <a:srgbClr val="475569"/>
                </a:solidFill>
                <a:latin typeface="Carlito"/>
              </a:rPr>
              <a:t>Covers schema, quarantine, idempotency, and SQL constraints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0" y="205740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13/16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13 / VERIFIED ANALYTICAL FINDINGS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Missing Settlements and Orphan Captures Drive 60% of Unresolved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Top Exposure Drivers (₹37.53L Total)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Missing Settlements: </a:t>
            </a:r>
            <a:r>
              <a:rPr sz="1500">
                <a:solidFill>
                  <a:srgbClr val="475569"/>
                </a:solidFill>
                <a:latin typeface="Carlito"/>
              </a:rPr>
              <a:t>115 open cases account for ₹10.50L (27.97% of exposure)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Missing Ledger &amp; Dups: </a:t>
            </a:r>
            <a:r>
              <a:rPr sz="1500">
                <a:solidFill>
                  <a:srgbClr val="475569"/>
                </a:solidFill>
                <a:latin typeface="Carlito"/>
              </a:rPr>
              <a:t>70 orphan records (₹6.22L) and 60 open duplicates (₹5.57L)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Ambiguous &amp; Bank Gaps: </a:t>
            </a:r>
            <a:r>
              <a:rPr sz="1500">
                <a:solidFill>
                  <a:srgbClr val="475569"/>
                </a:solidFill>
                <a:latin typeface="Carlito"/>
              </a:rPr>
              <a:t>35 ambiguous matches (₹3.19L) and 30 missing bank entries (₹2.73L)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0" y="2057400"/>
          <a:ext cx="58521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14/16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Carlito"/>
              </a:rPr>
              <a:t>14 / RECOMMENDATIONS &amp; HONEST LIMITATIONS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rlito"/>
              </a:rPr>
              <a:t>Automated Claim APIs and Idempotent Batch Keys Eliminate Top Leakage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0500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2647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Action Plan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T+3 Claim Triggers: </a:t>
            </a:r>
            <a:r>
              <a:rPr sz="1500">
                <a:solidFill>
                  <a:srgbClr val="475569"/>
                </a:solidFill>
                <a:latin typeface="Carlito"/>
              </a:rPr>
              <a:t>Automate T+3 gateway claims for missing payouts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Idempotent Batch Keys: </a:t>
            </a:r>
            <a:r>
              <a:rPr sz="1500">
                <a:solidFill>
                  <a:srgbClr val="475569"/>
                </a:solidFill>
                <a:latin typeface="Carlito"/>
              </a:rPr>
              <a:t>Enforce unique batch keys to block duplicates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0500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2647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Synthetic Limits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Controlled Baseline: </a:t>
            </a:r>
            <a:r>
              <a:rPr sz="1500">
                <a:solidFill>
                  <a:srgbClr val="475569"/>
                </a:solidFill>
                <a:latin typeface="Carlito"/>
              </a:rPr>
              <a:t>Synthetic rules do not parse free-text narratives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Single-Currency INR: </a:t>
            </a:r>
            <a:r>
              <a:rPr sz="1500">
                <a:solidFill>
                  <a:srgbClr val="475569"/>
                </a:solidFill>
                <a:latin typeface="Carlito"/>
              </a:rPr>
              <a:t>Foreign USD/EUR rows quarantined pending FX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050032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26476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Carlito"/>
              </a:rPr>
              <a:t>Environment Limits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Desktop Apps: </a:t>
            </a:r>
            <a:r>
              <a:rPr sz="1500">
                <a:solidFill>
                  <a:srgbClr val="475569"/>
                </a:solidFill>
                <a:latin typeface="Carlito"/>
              </a:rPr>
              <a:t>Linux VM lacks Windows Power BI and Excel runtime</a:t>
            </a:r>
          </a:p>
          <a:p>
            <a:pPr algn="l" marL="201168" indent="-201168">
              <a:spcAft>
                <a:spcPts val="1000"/>
              </a:spcAft>
              <a:buFont typeface="Arial"/>
              <a:buChar char="•"/>
            </a:pPr>
            <a:r>
              <a:rPr sz="1600" b="1">
                <a:solidFill>
                  <a:srgbClr val="0F172A"/>
                </a:solidFill>
                <a:latin typeface="Carlito"/>
              </a:rPr>
              <a:t>Full Source Assets: </a:t>
            </a:r>
            <a:r>
              <a:rPr sz="1500">
                <a:solidFill>
                  <a:srgbClr val="475569"/>
                </a:solidFill>
                <a:latin typeface="Carlito"/>
              </a:rPr>
              <a:t>12 SQL scripts, 8 VBA modules, DAX &amp; .xlsx shipped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rlito"/>
              </a:rPr>
              <a:t>Slide 15/16  |  SettlementIQ Baseline Run RUN_20261025_001 (100% Synthetic Data, Seed=42)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3600" b="1">
                <a:solidFill>
                  <a:srgbClr val="F8FAFC"/>
                </a:solidFill>
                <a:latin typeface="Carlito"/>
              </a:rPr>
              <a:t>Deterministic Financial Controls Turn Reconciliation Into Verified Audit Evidence.</a:t>
            </a:r>
          </a:p>
          <a:p>
            <a:r>
              <a:rPr sz="1800">
                <a:solidFill>
                  <a:srgbClr val="93C5FD"/>
                </a:solidFill>
                <a:latin typeface="Carlito"/>
              </a:rPr>
              <a:t>Thank You  |  Reproduce Baseline: PYTHONPATH=python/src python3 -m settlementiq.cli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